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1371600"/>
            <a:ext cx="4114800" cy="4114800"/>
          </a:xfrm>
          <a:prstGeom prst="rect">
            <a:avLst/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1188720"/>
            <a:ext cx="7315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</a:rPr>
              <a:t>Ko</a:t>
            </a:r>
            <a:r>
              <a:rPr sz="7200" b="1">
                <a:solidFill>
                  <a:srgbClr val="FF8A00"/>
                </a:solidFill>
              </a:rPr>
              <a:t>D</a:t>
            </a:r>
            <a:r>
              <a:rPr sz="7200" b="1">
                <a:solidFill>
                  <a:srgbClr val="FFFFFF"/>
                </a:solidFill>
              </a:rPr>
              <a:t>ox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560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ABB1"/>
                </a:solidFill>
              </a:rPr>
              <a:t>The Superintendent Command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063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8A00"/>
                </a:solidFill>
              </a:rPr>
              <a:t>Built for Mechanical &amp; Plumbing Contractors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74903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7ABB1"/>
                </a:solidFill>
              </a:rPr>
              <a:t>One platform. Your entire project. From first pipe to final punch.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A00"/>
                </a:solidFill>
              </a:rPr>
              <a:t>kodoxsystems.com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A00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Mechanical &amp; Plumbing Supers Are
Underserved by Existing Software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31720"/>
            <a:ext cx="2651760" cy="36576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265176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Procore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8A00"/>
                </a:solidFill>
              </a:rPr>
              <a:t>$800–$2,000/mo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Built for GCs — not specialty contractors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331720"/>
            <a:ext cx="2651760" cy="36576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2331720"/>
            <a:ext cx="265176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423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eSUB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880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8A00"/>
                </a:solidFill>
              </a:rPr>
              <a:t>$200–$500/month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No MCAA labor tables. Limited field tools.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331720"/>
            <a:ext cx="2651760" cy="36576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331720"/>
            <a:ext cx="265176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423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Raken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80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8A00"/>
                </a:solidFill>
              </a:rPr>
              <a:t>$15–$49/user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Daily logs only. No project management.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331720"/>
            <a:ext cx="2651760" cy="36576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2331720"/>
            <a:ext cx="265176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423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Spreadsheets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880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8A00"/>
                </a:solidFill>
              </a:rPr>
              <a:t>"Free"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Costs hours every week. No alerts. No tracking.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172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8A00"/>
                </a:solidFill>
              </a:rPr>
              <a:t>None of them were built for mechanical &amp; plumbing superintendents. Until 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A00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Introducing KoDox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7ABB1"/>
                </a:solidFill>
              </a:rPr>
              <a:t>Everything a mechanical or plumbing superintendent needs — in one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566160" cy="1737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566160" cy="64008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📅 Import Schedule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P6, MSP, Procore, Excel → auto-populates Tracker, Look-Ahead &amp; Manpower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286000"/>
            <a:ext cx="3566160" cy="1737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286000"/>
            <a:ext cx="3566160" cy="64008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MCAA Labor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9260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Crew sizes &amp; labor hours calculated automatically. No manual lookup.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286000"/>
            <a:ext cx="3566160" cy="1737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286000"/>
            <a:ext cx="3566160" cy="64008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🎙 Daily Briefing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9260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Tap one button. The app reads your morning meeting out loud.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97680"/>
            <a:ext cx="3566160" cy="1737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3566160" cy="64008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34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💰 Financial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377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Budget vs spent. Real-time variance. Auto-posts approved Change Orders.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297680"/>
            <a:ext cx="3566160" cy="1737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4297680"/>
            <a:ext cx="3566160" cy="64008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434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📄 Drawing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9377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Version control with superseded alerts. Markup with linked RFI pins.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4297680"/>
            <a:ext cx="3566160" cy="17373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4297680"/>
            <a:ext cx="3566160" cy="64008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434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🔒 Secure Sharing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9377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Nothing goes to the GC without your password. You control what they see.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A00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Set Up Once. Runs Every 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114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45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Create Your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93852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Add project name, contract value, dates, owner &amp; GC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148840"/>
            <a:ext cx="91440" cy="30175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50592"/>
            <a:ext cx="502920" cy="50292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3230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114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50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Import Your 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43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Upload P6, MS Project, Procore, or Excel — Tracker, Look-Ahead &amp; Manpower populate automatically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953512"/>
            <a:ext cx="91440" cy="30175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55264"/>
            <a:ext cx="502920" cy="50292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3697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114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5526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Set Up Labor Rates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5478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Enter MCAA rates once — labor costs calculate automatically from your daily crew logs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758184"/>
            <a:ext cx="91440" cy="30175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059936"/>
            <a:ext cx="502920" cy="50292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04164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114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5993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Import Cost Codes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5254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Upload your budget — Financial dashboard goes live with real-time variance tracking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562856"/>
            <a:ext cx="91440" cy="30175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864608"/>
            <a:ext cx="502920" cy="50292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114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86460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Upload Contract &amp; Drawings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15721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Store executed contract, drawings, and 3D model — all in one place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367528"/>
            <a:ext cx="91440" cy="301752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669280"/>
            <a:ext cx="502920" cy="50292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65099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114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6692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Run Your Job Daily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96188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Daily Briefing every morning. Log manpower. Update tracker. Track RFIs. Run your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A00"/>
                </a:solidFill>
              </a:rPr>
              <a:t>WHY KODOX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Built Different. For a Different Trade.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566160" cy="20116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73152" cy="201168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MCAA Labor Units
Built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39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Import your schedule and crew sizes calculate automatically using MCAA standards. No manual tables. No guessing.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737360"/>
            <a:ext cx="3566160" cy="20116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737360"/>
            <a:ext cx="73152" cy="201168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Daily Briefing
with 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06039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Tap one button every morning. The app reads your full briefing out loud — crew, RFIs, deliveries, activities. No other platform has this.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737360"/>
            <a:ext cx="3566160" cy="20116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737360"/>
            <a:ext cx="73152" cy="201168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Purpose-Built for
Mechanical &amp; Plumbing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606039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Fitter Report. Pipefitter production tracking. Trade-specific manpower. Built for your trade — not generic construction.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3566160" cy="20116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73152" cy="201168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06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You Control What
the GC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920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Nothing goes external without your password. Share only the RFIs and submittals you choose. Financials stay private always.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4023360"/>
            <a:ext cx="3566160" cy="20116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4023360"/>
            <a:ext cx="73152" cy="201168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4206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Drawing Version
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8920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Upload a new revision — every old drawing instantly flagged SUPERSEDED with an unmissable red banner. Your crew works off the right drawing every time.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4023360"/>
            <a:ext cx="3566160" cy="20116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4023360"/>
            <a:ext cx="73152" cy="201168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206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10x Less Than
Procore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920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Procore: $800–$2,000/month. KoDox: $79/month. Same core features. Built for your trade. A fraction of the price.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A00"/>
                </a:solidFill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KoDox vs The Competition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30000" cy="5029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ABB1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554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A00"/>
                </a:solidFill>
              </a:rPr>
              <a:t>KoDox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554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ABB1"/>
                </a:solidFill>
              </a:rPr>
              <a:t>Procore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554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ABB1"/>
                </a:solidFill>
              </a:rPr>
              <a:t>eSUB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554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ABB1"/>
                </a:solidFill>
              </a:rPr>
              <a:t>Fieldwire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1554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ABB1"/>
                </a:solidFill>
              </a:rPr>
              <a:t>Raken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84831"/>
            <a:ext cx="11430000" cy="438912"/>
          </a:xfrm>
          <a:prstGeom prst="rect">
            <a:avLst/>
          </a:prstGeom>
          <a:solidFill>
            <a:srgbClr val="10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1396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MCAA Labor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396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 Built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1396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1396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7ABB1"/>
                </a:solidFill>
              </a:rPr>
              <a:t>Add-on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1396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21396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42032"/>
            <a:ext cx="11430000" cy="438912"/>
          </a:xfrm>
          <a:prstGeom prst="rect">
            <a:avLst/>
          </a:prstGeom>
          <a:solidFill>
            <a:srgbClr val="0D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5968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Daily Briefing Audio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5968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5968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5968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5968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5968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999232"/>
            <a:ext cx="11430000" cy="438912"/>
          </a:xfrm>
          <a:prstGeom prst="rect">
            <a:avLst/>
          </a:prstGeom>
          <a:solidFill>
            <a:srgbClr val="10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0540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Fitter/Trade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0540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30540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0540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7ABB1"/>
                </a:solidFill>
              </a:rPr>
              <a:t>Limited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30540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30540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456432"/>
            <a:ext cx="11430000" cy="438912"/>
          </a:xfrm>
          <a:prstGeom prst="rect">
            <a:avLst/>
          </a:prstGeom>
          <a:solidFill>
            <a:srgbClr val="0D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5112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Drawing Version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35112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35112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5112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7ABB1"/>
                </a:solidFill>
              </a:rPr>
              <a:t>Limited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35112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35112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913631"/>
            <a:ext cx="11430000" cy="438912"/>
          </a:xfrm>
          <a:prstGeom prst="rect">
            <a:avLst/>
          </a:prstGeom>
          <a:solidFill>
            <a:srgbClr val="10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96849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RFI &amp; Submittal Tracking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0440" y="396849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396849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396849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396849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7ABB1"/>
                </a:solidFill>
              </a:rPr>
              <a:t>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396849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370831"/>
            <a:ext cx="11430000" cy="438912"/>
          </a:xfrm>
          <a:prstGeom prst="rect">
            <a:avLst/>
          </a:prstGeom>
          <a:solidFill>
            <a:srgbClr val="0D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42569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Financial Dashboard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0440" y="442569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60" y="442569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442569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79" y="442569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800" y="442569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828031"/>
            <a:ext cx="11430000" cy="438912"/>
          </a:xfrm>
          <a:prstGeom prst="rect">
            <a:avLst/>
          </a:prstGeom>
          <a:solidFill>
            <a:srgbClr val="10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88289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JSA with Digital Sign-On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20440" y="488289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66360" y="488289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7ABB1"/>
                </a:solidFill>
              </a:rPr>
              <a:t>Add-on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488289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7ABB1"/>
                </a:solidFill>
              </a:rPr>
              <a:t>Limited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3879" y="488289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29800" y="488289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285231"/>
            <a:ext cx="11430000" cy="438912"/>
          </a:xfrm>
          <a:prstGeom prst="rect">
            <a:avLst/>
          </a:prstGeom>
          <a:solidFill>
            <a:srgbClr val="0D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34009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 Per-User Fees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20440" y="534009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66360" y="534009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12280" y="534009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83879" y="534009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29800" y="534009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5742431"/>
            <a:ext cx="11430000" cy="438912"/>
          </a:xfrm>
          <a:prstGeom prst="rect">
            <a:avLst/>
          </a:prstGeom>
          <a:solidFill>
            <a:srgbClr val="10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5760" y="5742431"/>
            <a:ext cx="11430000" cy="438912"/>
          </a:xfrm>
          <a:prstGeom prst="rect">
            <a:avLst/>
          </a:prstGeom>
          <a:solidFill>
            <a:srgbClr val="1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579729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Starting Price/Month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20440" y="579729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A00"/>
                </a:solidFill>
              </a:rPr>
              <a:t>$79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66360" y="579729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7ABB1"/>
                </a:solidFill>
              </a:rPr>
              <a:t>$800+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12280" y="579729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7ABB1"/>
                </a:solidFill>
              </a:rPr>
              <a:t>$200+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83879" y="579729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7ABB1"/>
                </a:solidFill>
              </a:rPr>
              <a:t>$54+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9800" y="579729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7ABB1"/>
                </a:solidFill>
              </a:rPr>
              <a:t>$15+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A00"/>
                </a:solidFill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Simple Pricing. No Per-User Fees.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7ABB1"/>
                </a:solidFill>
              </a:rPr>
              <a:t>One flat monthly rate — unlimited users, unlimited projects (on higher tiers).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566160" cy="44805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566160" cy="73152"/>
          </a:xfrm>
          <a:prstGeom prst="rect">
            <a:avLst/>
          </a:prstGeom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ABB1"/>
                </a:solidFill>
              </a:rPr>
              <a:t>SINGLE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$79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ABB1"/>
                </a:solidFill>
              </a:rPr>
              <a:t>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7ABB1"/>
                </a:solidFill>
              </a:rPr>
              <a:t>Perfect for one active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ABB1"/>
                </a:solidFill>
              </a:rPr>
              <a:t>✓  1 active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82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ABB1"/>
                </a:solidFill>
              </a:rPr>
              <a:t>✓  Unlimited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2978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ABB1"/>
                </a:solidFill>
              </a:rPr>
              <a:t>✓  All field &amp; PM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772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ABB1"/>
                </a:solidFill>
              </a:rPr>
              <a:t>✓  PDF exports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2472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ABB1"/>
                </a:solidFill>
              </a:rPr>
              <a:t>✓  Cloud Sync &amp; backup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920240"/>
            <a:ext cx="3566160" cy="4480560"/>
          </a:xfrm>
          <a:prstGeom prst="rect">
            <a:avLst/>
          </a:prstGeom>
          <a:solidFill>
            <a:srgbClr val="1A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920240"/>
            <a:ext cx="3566160" cy="73152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920240"/>
            <a:ext cx="3566160" cy="32004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9385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A00"/>
                </a:solidFill>
              </a:rPr>
              <a:t>★ MOST POPULAR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A00"/>
                </a:solidFill>
              </a:rPr>
              <a:t>UNLIMITED PROJECTS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788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$129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ABB1"/>
                </a:solidFill>
              </a:rPr>
              <a:t>/month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840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7ABB1"/>
                </a:solidFill>
              </a:rPr>
              <a:t>Best value for multiple active jobs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Unlimited projects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782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Unlimited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12978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All features included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4772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Priority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82472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Free demo &amp; onboarding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1920240"/>
            <a:ext cx="3566160" cy="44805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1920240"/>
            <a:ext cx="3566160" cy="73152"/>
          </a:xfrm>
          <a:prstGeom prst="rect">
            <a:avLst/>
          </a:prstGeom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ABB1"/>
                </a:solidFill>
              </a:rPr>
              <a:t>ENTERPRISE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788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$299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ABB1"/>
                </a:solidFill>
              </a:rPr>
              <a:t>/month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840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7ABB1"/>
                </a:solidFill>
              </a:rPr>
              <a:t>For larger multi-company 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ABB1"/>
                </a:solidFill>
              </a:rPr>
              <a:t>✓  Everything in Unlimited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782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ABB1"/>
                </a:solidFill>
              </a:rPr>
              <a:t>✓  Multi-company portal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12978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ABB1"/>
                </a:solidFill>
              </a:rPr>
              <a:t>✓  GC &amp; Owner access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4772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ABB1"/>
                </a:solidFill>
              </a:rPr>
              <a:t>✓  Executive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82472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ABB1"/>
                </a:solidFill>
              </a:rPr>
              <a:t>✓  Dedicated onboarding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A00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Coming Soon — Features Rolling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7ABB1"/>
                </a:solidFill>
              </a:rPr>
              <a:t>In active development. Releasing in upcoming updates.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577840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64008" cy="100584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🤖 AI-Powered BOM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505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Upload drawings — AI generates full Bill of Materials automatically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5577840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64008" cy="100584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📱 Native 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505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iOS &amp; Android with offline mode and push notifications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5577840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64008" cy="100584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🏗 In-Browser 3D 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393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View, rotate &amp; markup your 3D model inside KoDox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108960"/>
            <a:ext cx="5577840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108960"/>
            <a:ext cx="64008" cy="100584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200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🔔 Email 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6393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Auto-alerts for overdue RFIs, submittals &amp; deliveries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80"/>
            <a:ext cx="5577840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297680"/>
            <a:ext cx="64008" cy="100584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389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💳 QuickBooks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280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Labor, change orders &amp; POs sync to your accounting software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297680"/>
            <a:ext cx="5577840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297680"/>
            <a:ext cx="64008" cy="100584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389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Auto Manpower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8280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Schedule import generates full manpower plan by trade &amp; week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486400"/>
            <a:ext cx="5577840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486400"/>
            <a:ext cx="64008" cy="100584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577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🔄 Procore &amp; P6 Sync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016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Two-way sync so schedule updates flow between systems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486400"/>
            <a:ext cx="5577840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5486400"/>
            <a:ext cx="64008" cy="100584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577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📈 Executive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6016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ABB1"/>
                </a:solidFill>
              </a:rPr>
              <a:t>Multi-project view for COOs — budgets, manpower &amp; schedule health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91440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92608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Ready to Run Your Job the </a:t>
            </a:r>
            <a:r>
              <a:rPr sz="4000" b="1">
                <a:solidFill>
                  <a:srgbClr val="FF8A00"/>
                </a:solidFill>
              </a:rPr>
              <a:t>Right Way?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7ABB1"/>
                </a:solidFill>
              </a:rPr>
              <a:t>Join mechanical &amp; plumbing contractors replacing spreadsheets with KoDox.
No credit card required for your free demo.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5212080"/>
            <a:ext cx="2560320" cy="640080"/>
          </a:xfrm>
          <a:prstGeom prst="rect">
            <a:avLst/>
          </a:prstGeom>
          <a:solidFill>
            <a:srgbClr val="FF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52303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114"/>
                </a:solidFill>
              </a:rPr>
              <a:t>START FREE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5212080"/>
            <a:ext cx="2560320" cy="6400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52303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8A00"/>
                </a:solidFill>
              </a:rPr>
              <a:t>kodoxsystems.com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A3A4A"/>
                </a:solidFill>
              </a:rPr>
              <a:t>© 2026 KoDox Systems LLC  ·  kodoxsystems.com  ·  Built for Mechanical &amp; Plumbing Superintendents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